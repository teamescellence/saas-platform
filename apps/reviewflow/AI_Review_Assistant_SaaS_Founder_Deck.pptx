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5F7FA"/>
                </a:solidFill>
                <a:latin typeface="Aptos"/>
              </a:rPr>
              <a:t>AI REVIEW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783080"/>
            <a:ext cx="99669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A6ADBA"/>
                </a:solidFill>
                <a:latin typeface="Aptos"/>
              </a:rPr>
              <a:t>Turn real customer experiences into better-written Google reviews.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274320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AD3A7"/>
                </a:solidFill>
                <a:latin typeface="Aptos"/>
              </a:rPr>
              <a:t>Founder Product &amp; Growth Deck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657600"/>
            <a:ext cx="3383280" cy="1508760"/>
          </a:xfrm>
          <a:prstGeom prst="roundRect">
            <a:avLst/>
          </a:prstGeom>
          <a:solidFill>
            <a:srgbClr val="151821"/>
          </a:solidFill>
          <a:ln>
            <a:solidFill>
              <a:srgbClr val="2A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3657600"/>
            <a:ext cx="54864" cy="1508760"/>
          </a:xfrm>
          <a:prstGeom prst="rect">
            <a:avLst/>
          </a:prstGeom>
          <a:solidFill>
            <a:srgbClr val="FFB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3822191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7FA"/>
                </a:solidFill>
                <a:latin typeface="Aptos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4224528"/>
            <a:ext cx="3017520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6ADBA"/>
                </a:solidFill>
                <a:latin typeface="Aptos"/>
              </a:rPr>
              <a:t>Customers want to review, but most don't know what to write.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3657600"/>
            <a:ext cx="3383280" cy="1508760"/>
          </a:xfrm>
          <a:prstGeom prst="roundRect">
            <a:avLst/>
          </a:prstGeom>
          <a:solidFill>
            <a:srgbClr val="151821"/>
          </a:solidFill>
          <a:ln>
            <a:solidFill>
              <a:srgbClr val="2A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07408" y="3657600"/>
            <a:ext cx="54864" cy="1508760"/>
          </a:xfrm>
          <a:prstGeom prst="rect">
            <a:avLst/>
          </a:prstGeom>
          <a:solidFill>
            <a:srgbClr val="7D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08576" y="3822191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7FA"/>
                </a:solidFill>
                <a:latin typeface="Aptos"/>
              </a:rPr>
              <a:t>The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576" y="4224528"/>
            <a:ext cx="3017520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6ADBA"/>
                </a:solidFill>
                <a:latin typeface="Aptos"/>
              </a:rPr>
              <a:t>QR/NFC → feedback → AI-assisted draft → customer approval → Google.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3657600"/>
            <a:ext cx="3383280" cy="1508760"/>
          </a:xfrm>
          <a:prstGeom prst="roundRect">
            <a:avLst/>
          </a:prstGeom>
          <a:solidFill>
            <a:srgbClr val="151821"/>
          </a:solidFill>
          <a:ln>
            <a:solidFill>
              <a:srgbClr val="2A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83296" y="3657600"/>
            <a:ext cx="54864" cy="1508760"/>
          </a:xfrm>
          <a:prstGeom prst="rect">
            <a:avLst/>
          </a:prstGeom>
          <a:solidFill>
            <a:srgbClr val="2AD3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4464" y="3822191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7FA"/>
                </a:solidFill>
                <a:latin typeface="Aptos"/>
              </a:rPr>
              <a:t>The business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4464" y="4224528"/>
            <a:ext cx="3017520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6ADBA"/>
                </a:solidFill>
                <a:latin typeface="Aptos"/>
              </a:rPr>
              <a:t>Subscription SaaS for local businesses across industries.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6ADBA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The customer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6ADBA"/>
                </a:solidFill>
                <a:latin typeface="Aptos"/>
              </a:rPr>
              <a:t>The friction is not willingness. It is the effort required to write.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3474720" cy="3474720"/>
          </a:xfrm>
          <a:prstGeom prst="roundRect">
            <a:avLst/>
          </a:prstGeom>
          <a:solidFill>
            <a:srgbClr val="151821"/>
          </a:solidFill>
          <a:ln>
            <a:solidFill>
              <a:srgbClr val="2A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00200"/>
            <a:ext cx="54864" cy="3474720"/>
          </a:xfrm>
          <a:prstGeom prst="rect">
            <a:avLst/>
          </a:prstGeom>
          <a:solidFill>
            <a:srgbClr val="FFB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76479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7FA"/>
                </a:solidFill>
                <a:latin typeface="Aptos"/>
              </a:rPr>
              <a:t>01  Customer friction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167128"/>
            <a:ext cx="3108960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6ADBA"/>
                </a:solidFill>
                <a:latin typeface="Aptos"/>
              </a:rPr>
              <a:t>A customer may be happy but still skip the review because writing a useful review takes effort.
"What should I write?" becomes the drop-off point.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600200"/>
            <a:ext cx="3474720" cy="3474720"/>
          </a:xfrm>
          <a:prstGeom prst="roundRect">
            <a:avLst/>
          </a:prstGeom>
          <a:solidFill>
            <a:srgbClr val="151821"/>
          </a:solidFill>
          <a:ln>
            <a:solidFill>
              <a:srgbClr val="2A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70832" y="1600200"/>
            <a:ext cx="54864" cy="3474720"/>
          </a:xfrm>
          <a:prstGeom prst="rect">
            <a:avLst/>
          </a:prstGeom>
          <a:solidFill>
            <a:srgbClr val="7D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76479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7FA"/>
                </a:solidFill>
                <a:latin typeface="Aptos"/>
              </a:rPr>
              <a:t>02  Business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167128"/>
            <a:ext cx="3108960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6ADBA"/>
                </a:solidFill>
                <a:latin typeface="Aptos"/>
              </a:rPr>
              <a:t>Businesses need more authentic reviews and usable customer feedback, but asking manually does not scale.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0144" y="1600200"/>
            <a:ext cx="3474720" cy="3474720"/>
          </a:xfrm>
          <a:prstGeom prst="roundRect">
            <a:avLst/>
          </a:prstGeom>
          <a:solidFill>
            <a:srgbClr val="151821"/>
          </a:solidFill>
          <a:ln>
            <a:solidFill>
              <a:srgbClr val="2A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10144" y="1600200"/>
            <a:ext cx="54864" cy="3474720"/>
          </a:xfrm>
          <a:prstGeom prst="rect">
            <a:avLst/>
          </a:prstGeom>
          <a:solidFill>
            <a:srgbClr val="2AD3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1312" y="176479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7FA"/>
                </a:solidFill>
                <a:latin typeface="Aptos"/>
              </a:rPr>
              <a:t>03  Product gap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1312" y="2167128"/>
            <a:ext cx="3108960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6ADBA"/>
                </a:solidFill>
                <a:latin typeface="Aptos"/>
              </a:rPr>
              <a:t>QR generators solve access. Review platforms solve analytics. The opportunity is the bridge: real feedback → useful review.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577840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7FA"/>
                </a:solidFill>
                <a:latin typeface="Aptos"/>
              </a:rPr>
              <a:t>Core insight: remove writing friction without fabricating the customer's experience.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6ADBA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Product 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6ADBA"/>
                </a:solidFill>
                <a:latin typeface="Aptos"/>
              </a:rPr>
              <a:t>Do not sell a "Google Review Generator." Sell a customer feedback and review assistant.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28800"/>
            <a:ext cx="1691640" cy="1828800"/>
          </a:xfrm>
          <a:prstGeom prst="roundRect">
            <a:avLst/>
          </a:prstGeom>
          <a:solidFill>
            <a:srgbClr val="151821"/>
          </a:solidFill>
          <a:ln>
            <a:solidFill>
              <a:srgbClr val="2A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828800"/>
            <a:ext cx="54864" cy="1828800"/>
          </a:xfrm>
          <a:prstGeom prst="rect">
            <a:avLst/>
          </a:prstGeom>
          <a:solidFill>
            <a:srgbClr val="7D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993392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ptos"/>
              </a:rPr>
              <a:t>SCAN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395728"/>
            <a:ext cx="132588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6ADBA"/>
                </a:solidFill>
                <a:latin typeface="Aptos"/>
              </a:rPr>
              <a:t>QR / NFC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04872" y="2487168"/>
            <a:ext cx="3474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A6ADBA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06040" y="1828800"/>
            <a:ext cx="1691640" cy="1828800"/>
          </a:xfrm>
          <a:prstGeom prst="roundRect">
            <a:avLst/>
          </a:prstGeom>
          <a:solidFill>
            <a:srgbClr val="151821"/>
          </a:solidFill>
          <a:ln>
            <a:solidFill>
              <a:srgbClr val="2A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606040" y="1828800"/>
            <a:ext cx="54864" cy="1828800"/>
          </a:xfrm>
          <a:prstGeom prst="rect">
            <a:avLst/>
          </a:prstGeom>
          <a:solidFill>
            <a:srgbClr val="FFB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07208" y="1993392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ptos"/>
              </a:rPr>
              <a:t>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07208" y="2395728"/>
            <a:ext cx="132588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6ADBA"/>
                </a:solidFill>
                <a:latin typeface="Aptos"/>
              </a:rPr>
              <a:t>1–5 stars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5112" y="2487168"/>
            <a:ext cx="3474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A6ADBA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1828800"/>
            <a:ext cx="1691640" cy="1828800"/>
          </a:xfrm>
          <a:prstGeom prst="roundRect">
            <a:avLst/>
          </a:prstGeom>
          <a:solidFill>
            <a:srgbClr val="151821"/>
          </a:solidFill>
          <a:ln>
            <a:solidFill>
              <a:srgbClr val="2A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26280" y="1828800"/>
            <a:ext cx="54864" cy="1828800"/>
          </a:xfrm>
          <a:prstGeom prst="rect">
            <a:avLst/>
          </a:prstGeom>
          <a:solidFill>
            <a:srgbClr val="2AD3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27448" y="1993392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ptos"/>
              </a:rPr>
              <a:t>WRITE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7448" y="2395728"/>
            <a:ext cx="132588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6ADBA"/>
                </a:solidFill>
                <a:latin typeface="Aptos"/>
              </a:rPr>
              <a:t>Natural feedback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5352" y="2487168"/>
            <a:ext cx="3474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A6ADBA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46520" y="1828800"/>
            <a:ext cx="1691640" cy="1828800"/>
          </a:xfrm>
          <a:prstGeom prst="roundRect">
            <a:avLst/>
          </a:prstGeom>
          <a:solidFill>
            <a:srgbClr val="151821"/>
          </a:solidFill>
          <a:ln>
            <a:solidFill>
              <a:srgbClr val="2A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46520" y="1828800"/>
            <a:ext cx="54864" cy="1828800"/>
          </a:xfrm>
          <a:prstGeom prst="rect">
            <a:avLst/>
          </a:prstGeom>
          <a:solidFill>
            <a:srgbClr val="7D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47688" y="1993392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ptos"/>
              </a:rPr>
              <a:t>ASSIST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47688" y="2395728"/>
            <a:ext cx="132588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6ADBA"/>
                </a:solidFill>
                <a:latin typeface="Aptos"/>
              </a:rPr>
              <a:t>AI improves wording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5592" y="2487168"/>
            <a:ext cx="3474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A6ADBA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66760" y="1828800"/>
            <a:ext cx="1691640" cy="1828800"/>
          </a:xfrm>
          <a:prstGeom prst="roundRect">
            <a:avLst/>
          </a:prstGeom>
          <a:solidFill>
            <a:srgbClr val="151821"/>
          </a:solidFill>
          <a:ln>
            <a:solidFill>
              <a:srgbClr val="2A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366760" y="1828800"/>
            <a:ext cx="54864" cy="1828800"/>
          </a:xfrm>
          <a:prstGeom prst="rect">
            <a:avLst/>
          </a:prstGeom>
          <a:solidFill>
            <a:srgbClr val="FFB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67928" y="1993392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ptos"/>
              </a:rPr>
              <a:t>APPROVE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67928" y="2395728"/>
            <a:ext cx="132588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6ADBA"/>
                </a:solidFill>
                <a:latin typeface="Aptos"/>
              </a:rPr>
              <a:t>Customer edits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85832" y="2487168"/>
            <a:ext cx="3474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A6ADBA"/>
                </a:solidFill>
                <a:latin typeface="Aptos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287000" y="1828800"/>
            <a:ext cx="1691640" cy="1828800"/>
          </a:xfrm>
          <a:prstGeom prst="roundRect">
            <a:avLst/>
          </a:prstGeom>
          <a:solidFill>
            <a:srgbClr val="151821"/>
          </a:solidFill>
          <a:ln>
            <a:solidFill>
              <a:srgbClr val="2A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287000" y="1828800"/>
            <a:ext cx="54864" cy="1828800"/>
          </a:xfrm>
          <a:prstGeom prst="rect">
            <a:avLst/>
          </a:prstGeom>
          <a:solidFill>
            <a:srgbClr val="2AD3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88168" y="1993392"/>
            <a:ext cx="1325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ptos"/>
              </a:rPr>
              <a:t>POST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88168" y="2395728"/>
            <a:ext cx="132588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6ADBA"/>
                </a:solidFill>
                <a:latin typeface="Aptos"/>
              </a:rPr>
              <a:t>Google review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434340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6775"/>
                </a:solidFill>
                <a:latin typeface="Aptos"/>
              </a:rPr>
              <a:t>Guardrail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4251960"/>
            <a:ext cx="9326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A6ADBA"/>
                </a:solidFill>
                <a:latin typeface="Aptos"/>
              </a:rPr>
              <a:t>AI may rewrite and structure what the customer actually said. It must not invent an experience or selectively suppress negative feedback.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6ADBA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Product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6ADBA"/>
                </a:solidFill>
                <a:latin typeface="Aptos"/>
              </a:rPr>
              <a:t>One simple customer journey; one reusable SaaS platform.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2514600" cy="4297680"/>
          </a:xfrm>
          <a:prstGeom prst="roundRect">
            <a:avLst/>
          </a:prstGeom>
          <a:solidFill>
            <a:srgbClr val="151821"/>
          </a:solidFill>
          <a:ln>
            <a:solidFill>
              <a:srgbClr val="2A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54864" cy="4297680"/>
          </a:xfrm>
          <a:prstGeom prst="rect">
            <a:avLst/>
          </a:prstGeom>
          <a:solidFill>
            <a:srgbClr val="7D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581912"/>
            <a:ext cx="2148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7FA"/>
                </a:solidFill>
                <a:latin typeface="Aptos"/>
              </a:rPr>
              <a:t>1. Scan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984248"/>
            <a:ext cx="2148840" cy="3611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6ADBA"/>
                </a:solidFill>
                <a:latin typeface="Aptos"/>
              </a:rPr>
              <a:t>Customer scans a business-specific QR or taps NFC.
Landing page is branded for that location.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64992" y="1417320"/>
            <a:ext cx="2514600" cy="4297680"/>
          </a:xfrm>
          <a:prstGeom prst="roundRect">
            <a:avLst/>
          </a:prstGeom>
          <a:solidFill>
            <a:srgbClr val="151821"/>
          </a:solidFill>
          <a:ln>
            <a:solidFill>
              <a:srgbClr val="2A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64992" y="1417320"/>
            <a:ext cx="54864" cy="4297680"/>
          </a:xfrm>
          <a:prstGeom prst="rect">
            <a:avLst/>
          </a:prstGeom>
          <a:solidFill>
            <a:srgbClr val="FFB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581912"/>
            <a:ext cx="2148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7FA"/>
                </a:solidFill>
                <a:latin typeface="Aptos"/>
              </a:rPr>
              <a:t>2. Feedback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1984248"/>
            <a:ext cx="2148840" cy="3611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6ADBA"/>
                </a:solidFill>
                <a:latin typeface="Aptos"/>
              </a:rPr>
              <a:t>Select rating and write naturally:
"Food was good, staff friendly, service a little slow."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44184" y="1417320"/>
            <a:ext cx="2514600" cy="4297680"/>
          </a:xfrm>
          <a:prstGeom prst="roundRect">
            <a:avLst/>
          </a:prstGeom>
          <a:solidFill>
            <a:srgbClr val="151821"/>
          </a:solidFill>
          <a:ln>
            <a:solidFill>
              <a:srgbClr val="2A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44184" y="1417320"/>
            <a:ext cx="54864" cy="4297680"/>
          </a:xfrm>
          <a:prstGeom prst="rect">
            <a:avLst/>
          </a:prstGeom>
          <a:solidFill>
            <a:srgbClr val="2AD3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45352" y="1581912"/>
            <a:ext cx="2148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7FA"/>
                </a:solidFill>
                <a:latin typeface="Aptos"/>
              </a:rPr>
              <a:t>3. AI draft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5352" y="1984248"/>
            <a:ext cx="2148840" cy="3611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6ADBA"/>
                </a:solidFill>
                <a:latin typeface="Aptos"/>
              </a:rPr>
              <a:t>AI turns the customer's words into a polished review while preserving the meaning.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23376" y="1417320"/>
            <a:ext cx="2514600" cy="4297680"/>
          </a:xfrm>
          <a:prstGeom prst="roundRect">
            <a:avLst/>
          </a:prstGeom>
          <a:solidFill>
            <a:srgbClr val="151821"/>
          </a:solidFill>
          <a:ln>
            <a:solidFill>
              <a:srgbClr val="2A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23376" y="1417320"/>
            <a:ext cx="54864" cy="4297680"/>
          </a:xfrm>
          <a:prstGeom prst="rect">
            <a:avLst/>
          </a:prstGeom>
          <a:solidFill>
            <a:srgbClr val="7D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24544" y="1581912"/>
            <a:ext cx="2148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7FA"/>
                </a:solidFill>
                <a:latin typeface="Aptos"/>
              </a:rPr>
              <a:t>4. Approve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24544" y="1984248"/>
            <a:ext cx="2148840" cy="3611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6ADBA"/>
                </a:solidFill>
                <a:latin typeface="Aptos"/>
              </a:rPr>
              <a:t>Customer edits if needed, then chooses:
Post on Google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89788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5F7FA"/>
                </a:solidFill>
                <a:latin typeface="Aptos"/>
              </a:rPr>
              <a:t>The product removes the blank-page problem.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6ADBA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Built for every local-business category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6ADBA"/>
                </a:solidFill>
                <a:latin typeface="Aptos"/>
              </a:rPr>
              <a:t>One platform, industry-specific prompts and feedback dimensions.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63040"/>
            <a:ext cx="2514600" cy="1600200"/>
          </a:xfrm>
          <a:prstGeom prst="roundRect">
            <a:avLst/>
          </a:prstGeom>
          <a:solidFill>
            <a:srgbClr val="151821"/>
          </a:solidFill>
          <a:ln>
            <a:solidFill>
              <a:srgbClr val="2A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463040"/>
            <a:ext cx="54864" cy="1600200"/>
          </a:xfrm>
          <a:prstGeom prst="rect">
            <a:avLst/>
          </a:prstGeom>
          <a:solidFill>
            <a:srgbClr val="7D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627632"/>
            <a:ext cx="2148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ptos"/>
              </a:rPr>
              <a:t>Restaurants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029968"/>
            <a:ext cx="2148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6ADBA"/>
                </a:solidFill>
                <a:latin typeface="Aptos"/>
              </a:rPr>
              <a:t>Food • Service • Ambience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463040"/>
            <a:ext cx="2514600" cy="1600200"/>
          </a:xfrm>
          <a:prstGeom prst="roundRect">
            <a:avLst/>
          </a:prstGeom>
          <a:solidFill>
            <a:srgbClr val="151821"/>
          </a:solidFill>
          <a:ln>
            <a:solidFill>
              <a:srgbClr val="2A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0" y="1463040"/>
            <a:ext cx="54864" cy="1600200"/>
          </a:xfrm>
          <a:prstGeom prst="rect">
            <a:avLst/>
          </a:prstGeom>
          <a:solidFill>
            <a:srgbClr val="2AD3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5887" y="1627632"/>
            <a:ext cx="2148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ptos"/>
              </a:rPr>
              <a:t>Hotels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75887" y="2029968"/>
            <a:ext cx="2148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6ADBA"/>
                </a:solidFill>
                <a:latin typeface="Aptos"/>
              </a:rPr>
              <a:t>Room • Cleanliness • Staff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463040"/>
            <a:ext cx="2514600" cy="1600200"/>
          </a:xfrm>
          <a:prstGeom prst="roundRect">
            <a:avLst/>
          </a:prstGeom>
          <a:solidFill>
            <a:srgbClr val="151821"/>
          </a:solidFill>
          <a:ln>
            <a:solidFill>
              <a:srgbClr val="2A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463040"/>
            <a:ext cx="54864" cy="1600200"/>
          </a:xfrm>
          <a:prstGeom prst="rect">
            <a:avLst/>
          </a:prstGeom>
          <a:solidFill>
            <a:srgbClr val="FFB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7" y="1627632"/>
            <a:ext cx="2148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ptos"/>
              </a:rPr>
              <a:t>Salons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7" y="2029968"/>
            <a:ext cx="2148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6ADBA"/>
                </a:solidFill>
                <a:latin typeface="Aptos"/>
              </a:rPr>
              <a:t>Service • Staff • Experience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59" y="1463040"/>
            <a:ext cx="2514600" cy="1600200"/>
          </a:xfrm>
          <a:prstGeom prst="roundRect">
            <a:avLst/>
          </a:prstGeom>
          <a:solidFill>
            <a:srgbClr val="151821"/>
          </a:solidFill>
          <a:ln>
            <a:solidFill>
              <a:srgbClr val="2A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52559" y="1463040"/>
            <a:ext cx="54864" cy="1600200"/>
          </a:xfrm>
          <a:prstGeom prst="rect">
            <a:avLst/>
          </a:prstGeom>
          <a:solidFill>
            <a:srgbClr val="7D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53728" y="1627632"/>
            <a:ext cx="2148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ptos"/>
              </a:rPr>
              <a:t>Clinics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3728" y="2029968"/>
            <a:ext cx="2148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6ADBA"/>
                </a:solidFill>
                <a:latin typeface="Aptos"/>
              </a:rPr>
              <a:t>Appointment • Staff • Cleanliness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474720"/>
            <a:ext cx="2514600" cy="1600200"/>
          </a:xfrm>
          <a:prstGeom prst="roundRect">
            <a:avLst/>
          </a:prstGeom>
          <a:solidFill>
            <a:srgbClr val="151821"/>
          </a:solidFill>
          <a:ln>
            <a:solidFill>
              <a:srgbClr val="2A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85800" y="3474720"/>
            <a:ext cx="54864" cy="1600200"/>
          </a:xfrm>
          <a:prstGeom prst="rect">
            <a:avLst/>
          </a:prstGeom>
          <a:solidFill>
            <a:srgbClr val="7D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" y="3639312"/>
            <a:ext cx="2148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ptos"/>
              </a:rPr>
              <a:t>Retail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4041648"/>
            <a:ext cx="2148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6ADBA"/>
                </a:solidFill>
                <a:latin typeface="Aptos"/>
              </a:rPr>
              <a:t>Product • Staff • Shopping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74720" y="3474720"/>
            <a:ext cx="2514600" cy="1600200"/>
          </a:xfrm>
          <a:prstGeom prst="roundRect">
            <a:avLst/>
          </a:prstGeom>
          <a:solidFill>
            <a:srgbClr val="151821"/>
          </a:solidFill>
          <a:ln>
            <a:solidFill>
              <a:srgbClr val="2A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474720" y="3474720"/>
            <a:ext cx="54864" cy="1600200"/>
          </a:xfrm>
          <a:prstGeom prst="rect">
            <a:avLst/>
          </a:prstGeom>
          <a:solidFill>
            <a:srgbClr val="2AD3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75887" y="3639312"/>
            <a:ext cx="2148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ptos"/>
              </a:rPr>
              <a:t>Furniture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75887" y="4041648"/>
            <a:ext cx="2148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6ADBA"/>
                </a:solidFill>
                <a:latin typeface="Aptos"/>
              </a:rPr>
              <a:t>Quality • Delivery • Installation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3474720"/>
            <a:ext cx="2514600" cy="1600200"/>
          </a:xfrm>
          <a:prstGeom prst="roundRect">
            <a:avLst/>
          </a:prstGeom>
          <a:solidFill>
            <a:srgbClr val="151821"/>
          </a:solidFill>
          <a:ln>
            <a:solidFill>
              <a:srgbClr val="2A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63640" y="3474720"/>
            <a:ext cx="54864" cy="1600200"/>
          </a:xfrm>
          <a:prstGeom prst="rect">
            <a:avLst/>
          </a:prstGeom>
          <a:solidFill>
            <a:srgbClr val="FFB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7" y="3639312"/>
            <a:ext cx="2148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ptos"/>
              </a:rPr>
              <a:t>Gyms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64807" y="4041648"/>
            <a:ext cx="2148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6ADBA"/>
                </a:solidFill>
                <a:latin typeface="Aptos"/>
              </a:rPr>
              <a:t>Equipment • Trainers • Environment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52559" y="3474720"/>
            <a:ext cx="2514600" cy="1600200"/>
          </a:xfrm>
          <a:prstGeom prst="roundRect">
            <a:avLst/>
          </a:prstGeom>
          <a:solidFill>
            <a:srgbClr val="151821"/>
          </a:solidFill>
          <a:ln>
            <a:solidFill>
              <a:srgbClr val="2A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052559" y="3474720"/>
            <a:ext cx="54864" cy="1600200"/>
          </a:xfrm>
          <a:prstGeom prst="rect">
            <a:avLst/>
          </a:prstGeom>
          <a:solidFill>
            <a:srgbClr val="7D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53728" y="3639312"/>
            <a:ext cx="2148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ptos"/>
              </a:rPr>
              <a:t>Auto service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53728" y="4041648"/>
            <a:ext cx="2148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6ADBA"/>
                </a:solidFill>
                <a:latin typeface="Aptos"/>
              </a:rPr>
              <a:t>Service • Time • Vehicle condition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80644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A6ADBA"/>
                </a:solidFill>
                <a:latin typeface="Aptos"/>
              </a:rPr>
              <a:t>Industry templates change the AI context — the core architecture stays the same.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6ADBA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SaaS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6ADBA"/>
                </a:solidFill>
                <a:latin typeface="Aptos"/>
              </a:rPr>
              <a:t>Next.js owns experience; Laravel owns business logic, security and entitlements.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383280" cy="4206240"/>
          </a:xfrm>
          <a:prstGeom prst="roundRect">
            <a:avLst/>
          </a:prstGeom>
          <a:solidFill>
            <a:srgbClr val="151821"/>
          </a:solidFill>
          <a:ln>
            <a:solidFill>
              <a:srgbClr val="2A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54864" cy="4206240"/>
          </a:xfrm>
          <a:prstGeom prst="rect">
            <a:avLst/>
          </a:prstGeom>
          <a:solidFill>
            <a:srgbClr val="7D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58191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7FA"/>
                </a:solidFill>
                <a:latin typeface="Aptos"/>
              </a:rPr>
              <a:t>NEXT.JS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984248"/>
            <a:ext cx="3017520" cy="3520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6ADBA"/>
                </a:solidFill>
                <a:latin typeface="Aptos"/>
              </a:rPr>
              <a:t>• Customer review UI
• Owner dashboard
• Super admin UI
• Authentication screens
• QR management UI
• Analytics views
Fast product iteration and polished UX.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417320"/>
            <a:ext cx="3383280" cy="4206240"/>
          </a:xfrm>
          <a:prstGeom prst="roundRect">
            <a:avLst/>
          </a:prstGeom>
          <a:solidFill>
            <a:srgbClr val="151821"/>
          </a:solidFill>
          <a:ln>
            <a:solidFill>
              <a:srgbClr val="2A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07408" y="1417320"/>
            <a:ext cx="54864" cy="4206240"/>
          </a:xfrm>
          <a:prstGeom prst="rect">
            <a:avLst/>
          </a:prstGeom>
          <a:solidFill>
            <a:srgbClr val="2AD3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08576" y="158191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7FA"/>
                </a:solidFill>
                <a:latin typeface="Aptos"/>
              </a:rPr>
              <a:t>LARAVEL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8576" y="1984248"/>
            <a:ext cx="3017520" cy="3520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6ADBA"/>
                </a:solidFill>
                <a:latin typeface="Aptos"/>
              </a:rPr>
              <a:t>• Roles &amp; permissions
• Multi-tenancy
• Businesses &amp; branches
• QR tokens
• Feedback &amp; review events
• AI orchestration
• Subscription limits
• Audit/security rules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29016" y="1417320"/>
            <a:ext cx="3383280" cy="4206240"/>
          </a:xfrm>
          <a:prstGeom prst="roundRect">
            <a:avLst/>
          </a:prstGeom>
          <a:solidFill>
            <a:srgbClr val="151821"/>
          </a:solidFill>
          <a:ln>
            <a:solidFill>
              <a:srgbClr val="2A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29016" y="1417320"/>
            <a:ext cx="54864" cy="4206240"/>
          </a:xfrm>
          <a:prstGeom prst="rect">
            <a:avLst/>
          </a:prstGeom>
          <a:solidFill>
            <a:srgbClr val="FFB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0184" y="1581912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7FA"/>
                </a:solidFill>
                <a:latin typeface="Aptos"/>
              </a:rPr>
              <a:t>INFRASTRUCTURE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0184" y="1984248"/>
            <a:ext cx="3017520" cy="3520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6ADBA"/>
                </a:solidFill>
                <a:latin typeface="Aptos"/>
              </a:rPr>
              <a:t>Database
AI provider
Payment gateway
Object storage
Email / WhatsApp later
Keep provider integrations behind Laravel services.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85216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6775"/>
                </a:solidFill>
                <a:latin typeface="Aptos"/>
              </a:rPr>
              <a:t>Security principle: UI permissions are not security. Laravel enforces authorization.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6ADBA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Secure QR + multi-tenant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6ADBA"/>
                </a:solidFill>
                <a:latin typeface="Aptos"/>
              </a:rPr>
              <a:t>The QR identifies a placement, not an exposed business ID.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429000" cy="4389120"/>
          </a:xfrm>
          <a:prstGeom prst="roundRect">
            <a:avLst/>
          </a:prstGeom>
          <a:solidFill>
            <a:srgbClr val="151821"/>
          </a:solidFill>
          <a:ln>
            <a:solidFill>
              <a:srgbClr val="2A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54864" cy="4389120"/>
          </a:xfrm>
          <a:prstGeom prst="rect">
            <a:avLst/>
          </a:prstGeom>
          <a:solidFill>
            <a:srgbClr val="7D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58191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7FA"/>
                </a:solidFill>
                <a:latin typeface="Aptos"/>
              </a:rPr>
              <a:t>Opaque QR token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984248"/>
            <a:ext cx="3063240" cy="3703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6ADBA"/>
                </a:solidFill>
                <a:latin typeface="Aptos"/>
              </a:rPr>
              <a:t>Public URL:
review.yourdomain.com/r/{random-token}
Use cryptographically secure randomness. Store a hash server-side where practical.
Never expose /business/42.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429000" cy="4389120"/>
          </a:xfrm>
          <a:prstGeom prst="roundRect">
            <a:avLst/>
          </a:prstGeom>
          <a:solidFill>
            <a:srgbClr val="151821"/>
          </a:solidFill>
          <a:ln>
            <a:solidFill>
              <a:srgbClr val="2A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417320"/>
            <a:ext cx="54864" cy="4389120"/>
          </a:xfrm>
          <a:prstGeom prst="rect">
            <a:avLst/>
          </a:prstGeom>
          <a:solidFill>
            <a:srgbClr val="2AD3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158191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7FA"/>
                </a:solidFill>
                <a:latin typeface="Aptos"/>
              </a:rPr>
              <a:t>QR placement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1984248"/>
            <a:ext cx="3063240" cy="3703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6ADBA"/>
                </a:solidFill>
                <a:latin typeface="Aptos"/>
              </a:rPr>
              <a:t>A business can create:
Table 01
Table 02
Billing counter
Reception
Takeaway packaging
This creates useful source-level analytics.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417320"/>
            <a:ext cx="3429000" cy="4389120"/>
          </a:xfrm>
          <a:prstGeom prst="roundRect">
            <a:avLst/>
          </a:prstGeom>
          <a:solidFill>
            <a:srgbClr val="151821"/>
          </a:solidFill>
          <a:ln>
            <a:solidFill>
              <a:srgbClr val="2A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2440" y="1417320"/>
            <a:ext cx="54864" cy="4389120"/>
          </a:xfrm>
          <a:prstGeom prst="rect">
            <a:avLst/>
          </a:prstGeom>
          <a:solidFill>
            <a:srgbClr val="FFB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93608" y="158191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7FA"/>
                </a:solidFill>
                <a:latin typeface="Aptos"/>
              </a:rPr>
              <a:t>Tenant boundary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3608" y="1984248"/>
            <a:ext cx="3063240" cy="3703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6ADBA"/>
                </a:solidFill>
                <a:latin typeface="Aptos"/>
              </a:rPr>
              <a:t>Every business record is scoped by:
business_id
branch_id
Laravel checks:
User → membership → role → permission → resource.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6ADBA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Roles and operating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6ADBA"/>
                </a:solidFill>
                <a:latin typeface="Aptos"/>
              </a:rPr>
              <a:t>Keep permissions simple at first; expand only when customers prove the need.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2514600" cy="3474720"/>
          </a:xfrm>
          <a:prstGeom prst="roundRect">
            <a:avLst/>
          </a:prstGeom>
          <a:solidFill>
            <a:srgbClr val="151821"/>
          </a:solidFill>
          <a:ln>
            <a:solidFill>
              <a:srgbClr val="2A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645920"/>
            <a:ext cx="54864" cy="3474720"/>
          </a:xfrm>
          <a:prstGeom prst="rect">
            <a:avLst/>
          </a:prstGeom>
          <a:solidFill>
            <a:srgbClr val="7D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810512"/>
            <a:ext cx="2148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ptos"/>
              </a:rPr>
              <a:t>Super Admin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212848"/>
            <a:ext cx="2148840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6ADBA"/>
                </a:solidFill>
                <a:latin typeface="Aptos"/>
              </a:rPr>
              <a:t>Platform-wide control
Businesses • Plans • Payments • Usage • Analytics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645920"/>
            <a:ext cx="2514600" cy="3474720"/>
          </a:xfrm>
          <a:prstGeom prst="roundRect">
            <a:avLst/>
          </a:prstGeom>
          <a:solidFill>
            <a:srgbClr val="151821"/>
          </a:solidFill>
          <a:ln>
            <a:solidFill>
              <a:srgbClr val="2A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0" y="1645920"/>
            <a:ext cx="54864" cy="3474720"/>
          </a:xfrm>
          <a:prstGeom prst="rect">
            <a:avLst/>
          </a:prstGeom>
          <a:solidFill>
            <a:srgbClr val="2AD3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75887" y="1810512"/>
            <a:ext cx="2148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ptos"/>
              </a:rPr>
              <a:t>Owner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75887" y="2212848"/>
            <a:ext cx="2148840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6ADBA"/>
                </a:solidFill>
                <a:latin typeface="Aptos"/>
              </a:rPr>
              <a:t>Full control of owned business
Branches • QR • Team • Billing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45920"/>
            <a:ext cx="2514600" cy="3474720"/>
          </a:xfrm>
          <a:prstGeom prst="roundRect">
            <a:avLst/>
          </a:prstGeom>
          <a:solidFill>
            <a:srgbClr val="151821"/>
          </a:solidFill>
          <a:ln>
            <a:solidFill>
              <a:srgbClr val="2A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645920"/>
            <a:ext cx="54864" cy="3474720"/>
          </a:xfrm>
          <a:prstGeom prst="rect">
            <a:avLst/>
          </a:prstGeom>
          <a:solidFill>
            <a:srgbClr val="FFB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7" y="1810512"/>
            <a:ext cx="2148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ptos"/>
              </a:rPr>
              <a:t>Manager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7" y="2212848"/>
            <a:ext cx="2148840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6ADBA"/>
                </a:solidFill>
                <a:latin typeface="Aptos"/>
              </a:rPr>
              <a:t>Operational access
Reviews • Feedback • Analytics • QR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59" y="1645920"/>
            <a:ext cx="2514600" cy="3474720"/>
          </a:xfrm>
          <a:prstGeom prst="roundRect">
            <a:avLst/>
          </a:prstGeom>
          <a:solidFill>
            <a:srgbClr val="151821"/>
          </a:solidFill>
          <a:ln>
            <a:solidFill>
              <a:srgbClr val="2A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52559" y="1645920"/>
            <a:ext cx="54864" cy="3474720"/>
          </a:xfrm>
          <a:prstGeom prst="rect">
            <a:avLst/>
          </a:prstGeom>
          <a:solidFill>
            <a:srgbClr val="7D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53728" y="1810512"/>
            <a:ext cx="2148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7FA"/>
                </a:solidFill>
                <a:latin typeface="Aptos"/>
              </a:rPr>
              <a:t>Staff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3728" y="2212848"/>
            <a:ext cx="2148840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6ADBA"/>
                </a:solidFill>
                <a:latin typeface="Aptos"/>
              </a:rPr>
              <a:t>Frontline access
View/display QR • Basic feedback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57784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5F7FA"/>
                </a:solidFill>
                <a:latin typeface="Aptos"/>
              </a:rPr>
              <a:t>Multi-tenant model: users ↔ businesses ↔ branches, with every business-facing resource scoped to the tenant.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6ADBA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Subscription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6ADBA"/>
                </a:solidFill>
                <a:latin typeface="Aptos"/>
              </a:rPr>
              <a:t>Revenue is tied to usage and business value — not QR-code quantity alone.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554480"/>
            <a:ext cx="3246120" cy="4023360"/>
          </a:xfrm>
          <a:prstGeom prst="roundRect">
            <a:avLst/>
          </a:prstGeom>
          <a:solidFill>
            <a:srgbClr val="151821"/>
          </a:solidFill>
          <a:ln>
            <a:solidFill>
              <a:srgbClr val="2A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1554480"/>
            <a:ext cx="54864" cy="4023360"/>
          </a:xfrm>
          <a:prstGeom prst="rect">
            <a:avLst/>
          </a:prstGeom>
          <a:solidFill>
            <a:srgbClr val="7D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1719072"/>
            <a:ext cx="2880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5F7FA"/>
                </a:solidFill>
                <a:latin typeface="Aptos"/>
              </a:rPr>
              <a:t>STARTER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2121408"/>
            <a:ext cx="2880360" cy="3337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ADBA"/>
                </a:solidFill>
                <a:latin typeface="Aptos"/>
              </a:rPr>
              <a:t>₹499/mo
1 business
1 QR
AI assistant
500 sessions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554480"/>
            <a:ext cx="3246120" cy="4023360"/>
          </a:xfrm>
          <a:prstGeom prst="roundRect">
            <a:avLst/>
          </a:prstGeom>
          <a:solidFill>
            <a:srgbClr val="151821"/>
          </a:solidFill>
          <a:ln>
            <a:solidFill>
              <a:srgbClr val="2A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0" y="1554480"/>
            <a:ext cx="54864" cy="4023360"/>
          </a:xfrm>
          <a:prstGeom prst="rect">
            <a:avLst/>
          </a:prstGeom>
          <a:solidFill>
            <a:srgbClr val="2AD3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73168" y="1719072"/>
            <a:ext cx="2880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5F7FA"/>
                </a:solidFill>
                <a:latin typeface="Aptos"/>
              </a:rPr>
              <a:t>GROWTH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73168" y="2121408"/>
            <a:ext cx="2880360" cy="3337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ADBA"/>
                </a:solidFill>
                <a:latin typeface="Aptos"/>
              </a:rPr>
              <a:t>₹999/mo
Up to 3 locations
Multiple QR
Analytics
2,000 sessions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19" y="1554480"/>
            <a:ext cx="3246120" cy="4023360"/>
          </a:xfrm>
          <a:prstGeom prst="roundRect">
            <a:avLst/>
          </a:prstGeom>
          <a:solidFill>
            <a:srgbClr val="151821"/>
          </a:solidFill>
          <a:ln>
            <a:solidFill>
              <a:srgbClr val="2A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75319" y="1554480"/>
            <a:ext cx="54864" cy="4023360"/>
          </a:xfrm>
          <a:prstGeom prst="rect">
            <a:avLst/>
          </a:prstGeom>
          <a:solidFill>
            <a:srgbClr val="FFB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76488" y="1719072"/>
            <a:ext cx="2880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5F7FA"/>
                </a:solidFill>
                <a:latin typeface="Aptos"/>
              </a:rPr>
              <a:t>PRO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6488" y="2121408"/>
            <a:ext cx="2880360" cy="3337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A6ADBA"/>
                </a:solidFill>
                <a:latin typeface="Aptos"/>
              </a:rPr>
              <a:t>₹1,999/mo
Up to 10 locations
Team accounts
Advanced analytics
AI responses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80644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A6ADBA"/>
                </a:solidFill>
                <a:latin typeface="Aptos"/>
              </a:rPr>
              <a:t>Usage records: feedback_count • ai_generation_count • qr_count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6ADBA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The real moat: Review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6ADBA"/>
                </a:solidFill>
                <a:latin typeface="Aptos"/>
              </a:rPr>
              <a:t>If we only generate reviews, we are easy to replace. If we understand customers, we become operationally valuable.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63040"/>
            <a:ext cx="3474720" cy="4114800"/>
          </a:xfrm>
          <a:prstGeom prst="roundRect">
            <a:avLst/>
          </a:prstGeom>
          <a:solidFill>
            <a:srgbClr val="151821"/>
          </a:solidFill>
          <a:ln>
            <a:solidFill>
              <a:srgbClr val="2A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463040"/>
            <a:ext cx="54864" cy="4114800"/>
          </a:xfrm>
          <a:prstGeom prst="rect">
            <a:avLst/>
          </a:prstGeom>
          <a:solidFill>
            <a:srgbClr val="2AD3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62763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7FA"/>
                </a:solidFill>
                <a:latin typeface="Aptos"/>
              </a:rPr>
              <a:t>What customers love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029968"/>
            <a:ext cx="3108960" cy="3429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6ADBA"/>
                </a:solidFill>
                <a:latin typeface="Aptos"/>
              </a:rPr>
              <a:t>Food quality — 82 mentions
Staff — 54 mentions
Ambience — 37 mentions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463040"/>
            <a:ext cx="3474720" cy="4114800"/>
          </a:xfrm>
          <a:prstGeom prst="roundRect">
            <a:avLst/>
          </a:prstGeom>
          <a:solidFill>
            <a:srgbClr val="151821"/>
          </a:solidFill>
          <a:ln>
            <a:solidFill>
              <a:srgbClr val="2A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70832" y="1463040"/>
            <a:ext cx="54864" cy="4114800"/>
          </a:xfrm>
          <a:prstGeom prst="rect">
            <a:avLst/>
          </a:prstGeom>
          <a:solidFill>
            <a:srgbClr val="FFB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62763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7FA"/>
                </a:solidFill>
                <a:latin typeface="Aptos"/>
              </a:rPr>
              <a:t>What customers dislike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029968"/>
            <a:ext cx="3108960" cy="3429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6ADBA"/>
                </a:solidFill>
                <a:latin typeface="Aptos"/>
              </a:rPr>
              <a:t>Waiting time — 29 mentions
Pricing — 17 mentions
Parking — 11 mentions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55864" y="1463040"/>
            <a:ext cx="3474720" cy="4114800"/>
          </a:xfrm>
          <a:prstGeom prst="roundRect">
            <a:avLst/>
          </a:prstGeom>
          <a:solidFill>
            <a:srgbClr val="151821"/>
          </a:solidFill>
          <a:ln>
            <a:solidFill>
              <a:srgbClr val="2A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55864" y="1463040"/>
            <a:ext cx="54864" cy="4114800"/>
          </a:xfrm>
          <a:prstGeom prst="rect">
            <a:avLst/>
          </a:prstGeom>
          <a:solidFill>
            <a:srgbClr val="7D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57032" y="162763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7FA"/>
                </a:solidFill>
                <a:latin typeface="Aptos"/>
              </a:rPr>
              <a:t>AI recommendation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032" y="2029968"/>
            <a:ext cx="3108960" cy="3429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6ADBA"/>
                </a:solidFill>
                <a:latin typeface="Aptos"/>
              </a:rPr>
              <a:t>“Waiting time is your biggest recurring complaint. 29 customers mentioned delays this month.”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80644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5F7FA"/>
                </a:solidFill>
                <a:latin typeface="Aptos"/>
              </a:rPr>
              <a:t>Positioning evolves from “get more reviews” to “understand and improve customer experience.”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6ADBA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Growth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6ADBA"/>
                </a:solidFill>
                <a:latin typeface="Aptos"/>
              </a:rPr>
              <a:t>Start narrow, prove conversion, then expand the distribution surface.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3566160"/>
          </a:xfrm>
          <a:prstGeom prst="roundRect">
            <a:avLst/>
          </a:prstGeom>
          <a:solidFill>
            <a:srgbClr val="151821"/>
          </a:solidFill>
          <a:ln>
            <a:solidFill>
              <a:srgbClr val="2A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4864" cy="3566160"/>
          </a:xfrm>
          <a:prstGeom prst="rect">
            <a:avLst/>
          </a:prstGeom>
          <a:solidFill>
            <a:srgbClr val="7D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810512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5F7FA"/>
                </a:solidFill>
                <a:latin typeface="Aptos"/>
              </a:rPr>
              <a:t>1  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212848"/>
            <a:ext cx="2103120" cy="2880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6ADBA"/>
                </a:solidFill>
                <a:latin typeface="Aptos"/>
              </a:rPr>
              <a:t>10–20 local businesses
Prove scan → feedback → Google click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39" y="1645920"/>
            <a:ext cx="2468880" cy="3566160"/>
          </a:xfrm>
          <a:prstGeom prst="roundRect">
            <a:avLst/>
          </a:prstGeom>
          <a:solidFill>
            <a:srgbClr val="151821"/>
          </a:solidFill>
          <a:ln>
            <a:solidFill>
              <a:srgbClr val="2A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0439" y="1645920"/>
            <a:ext cx="54864" cy="3566160"/>
          </a:xfrm>
          <a:prstGeom prst="rect">
            <a:avLst/>
          </a:prstGeom>
          <a:solidFill>
            <a:srgbClr val="2AD3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21607" y="1810512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5F7FA"/>
                </a:solidFill>
                <a:latin typeface="Aptos"/>
              </a:rPr>
              <a:t>2  Repeatability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21607" y="2212848"/>
            <a:ext cx="2103120" cy="2880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6ADBA"/>
                </a:solidFill>
                <a:latin typeface="Aptos"/>
              </a:rPr>
              <a:t>Restaurants, salons, hotels, retail
Standard onboarding + QR kit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1645920"/>
            <a:ext cx="2468880" cy="3566160"/>
          </a:xfrm>
          <a:prstGeom prst="roundRect">
            <a:avLst/>
          </a:prstGeom>
          <a:solidFill>
            <a:srgbClr val="151821"/>
          </a:solidFill>
          <a:ln>
            <a:solidFill>
              <a:srgbClr val="2A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59" y="1645920"/>
            <a:ext cx="54864" cy="3566160"/>
          </a:xfrm>
          <a:prstGeom prst="rect">
            <a:avLst/>
          </a:prstGeom>
          <a:solidFill>
            <a:srgbClr val="FFB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7" y="1810512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5F7FA"/>
                </a:solidFill>
                <a:latin typeface="Aptos"/>
              </a:rPr>
              <a:t>3  Distribution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7" y="2212848"/>
            <a:ext cx="2103120" cy="2880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6ADBA"/>
                </a:solidFill>
                <a:latin typeface="Aptos"/>
              </a:rPr>
              <a:t>Agencies, POS vendors, marketing partners
White-label / reseller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1645920"/>
            <a:ext cx="2468880" cy="3566160"/>
          </a:xfrm>
          <a:prstGeom prst="roundRect">
            <a:avLst/>
          </a:prstGeom>
          <a:solidFill>
            <a:srgbClr val="151821"/>
          </a:solidFill>
          <a:ln>
            <a:solidFill>
              <a:srgbClr val="2A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98280" y="1645920"/>
            <a:ext cx="54864" cy="3566160"/>
          </a:xfrm>
          <a:prstGeom prst="rect">
            <a:avLst/>
          </a:prstGeom>
          <a:solidFill>
            <a:srgbClr val="7D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9448" y="1810512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5F7FA"/>
                </a:solidFill>
                <a:latin typeface="Aptos"/>
              </a:rPr>
              <a:t>4  Expansion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99448" y="2212848"/>
            <a:ext cx="2103120" cy="2880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6ADBA"/>
                </a:solidFill>
                <a:latin typeface="Aptos"/>
              </a:rPr>
              <a:t>NFC, WhatsApp, review intelligence,
multiple branches, enterprise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623560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5F7FA"/>
                </a:solidFill>
                <a:latin typeface="Aptos"/>
              </a:rPr>
              <a:t>Growth loop: more businesses → more customer feedback → better industry intelligence → stronger product → easier sales.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6ADBA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MVP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6ADBA"/>
                </a:solidFill>
                <a:latin typeface="Aptos"/>
              </a:rPr>
              <a:t>Build the smallest product that proves customers will pay.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3429000" cy="4480560"/>
          </a:xfrm>
          <a:prstGeom prst="roundRect">
            <a:avLst/>
          </a:prstGeom>
          <a:solidFill>
            <a:srgbClr val="151821"/>
          </a:solidFill>
          <a:ln>
            <a:solidFill>
              <a:srgbClr val="2A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54864" cy="4480560"/>
          </a:xfrm>
          <a:prstGeom prst="rect">
            <a:avLst/>
          </a:prstGeom>
          <a:solidFill>
            <a:srgbClr val="7D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58191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7FA"/>
                </a:solidFill>
                <a:latin typeface="Aptos"/>
              </a:rPr>
              <a:t>PHASE 1 — VALIDATE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984248"/>
            <a:ext cx="3063240" cy="3794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6ADBA"/>
                </a:solidFill>
                <a:latin typeface="Aptos"/>
              </a:rPr>
              <a:t>Laravel
Authentication + roles
Businesses + branches
QR tokens
Feedback
AI generation
Review events
Next.js
Login + dashboard
QR generation/download
Customer flow
Basic analytics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429000" cy="4480560"/>
          </a:xfrm>
          <a:prstGeom prst="roundRect">
            <a:avLst/>
          </a:prstGeom>
          <a:solidFill>
            <a:srgbClr val="151821"/>
          </a:solidFill>
          <a:ln>
            <a:solidFill>
              <a:srgbClr val="2A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417320"/>
            <a:ext cx="54864" cy="4480560"/>
          </a:xfrm>
          <a:prstGeom prst="rect">
            <a:avLst/>
          </a:prstGeom>
          <a:solidFill>
            <a:srgbClr val="2AD3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158191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7FA"/>
                </a:solidFill>
                <a:latin typeface="Aptos"/>
              </a:rPr>
              <a:t>PHASE 2 — MONETIZE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1984248"/>
            <a:ext cx="3063240" cy="3794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6ADBA"/>
                </a:solidFill>
                <a:latin typeface="Aptos"/>
              </a:rPr>
              <a:t>Subscriptions
Payment gateway
Usage limits
Multiple branches
Staff accounts
Custom branding
Goal: convert pilot businesses into recurring subscriptions.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417320"/>
            <a:ext cx="3429000" cy="4480560"/>
          </a:xfrm>
          <a:prstGeom prst="roundRect">
            <a:avLst/>
          </a:prstGeom>
          <a:solidFill>
            <a:srgbClr val="151821"/>
          </a:solidFill>
          <a:ln>
            <a:solidFill>
              <a:srgbClr val="2A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2440" y="1417320"/>
            <a:ext cx="54864" cy="4480560"/>
          </a:xfrm>
          <a:prstGeom prst="rect">
            <a:avLst/>
          </a:prstGeom>
          <a:solidFill>
            <a:srgbClr val="FFB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93608" y="158191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7FA"/>
                </a:solidFill>
                <a:latin typeface="Aptos"/>
              </a:rPr>
              <a:t>PHASE 3 — EXPAND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3608" y="1984248"/>
            <a:ext cx="3063240" cy="3794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6ADBA"/>
                </a:solidFill>
                <a:latin typeface="Aptos"/>
              </a:rPr>
              <a:t>WhatsApp
NFC
Sentiment analysis
AI response assistant
Industry-specific prompts
White-label
Goal: increase ARPU and distribution.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6ADBA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5F7FA"/>
                </a:solidFill>
                <a:latin typeface="Aptos"/>
              </a:rPr>
              <a:t>Founder decision: what we are actually building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6ADBA"/>
                </a:solidFill>
                <a:latin typeface="Aptos"/>
              </a:rPr>
              <a:t>The product should be judged by customer outcomes, not feature count.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828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6775"/>
                </a:solidFill>
                <a:latin typeface="Aptos"/>
              </a:rPr>
              <a:t>NOT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57400"/>
            <a:ext cx="45720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A6ADBA"/>
                </a:solidFill>
                <a:latin typeface="Aptos"/>
              </a:rPr>
              <a:t>A QR generator
A fake-review generator
A generic feedback 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1828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AD3A7"/>
                </a:solidFill>
                <a:latin typeface="Aptos"/>
              </a:rPr>
              <a:t>YES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057400"/>
            <a:ext cx="45720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5F7FA"/>
                </a:solidFill>
                <a:latin typeface="Aptos"/>
              </a:rPr>
              <a:t>A review-assistance workflow
A customer feedback engine
A recurring-revenue SaaS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4251960"/>
            <a:ext cx="9966960" cy="1143000"/>
          </a:xfrm>
          <a:prstGeom prst="roundRect">
            <a:avLst/>
          </a:prstGeom>
          <a:solidFill>
            <a:srgbClr val="151821"/>
          </a:solidFill>
          <a:ln>
            <a:solidFill>
              <a:srgbClr val="2A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4251960"/>
            <a:ext cx="54864" cy="1143000"/>
          </a:xfrm>
          <a:prstGeom prst="rect">
            <a:avLst/>
          </a:prstGeom>
          <a:solidFill>
            <a:srgbClr val="7D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98448" y="4416552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7FA"/>
                </a:solidFill>
                <a:latin typeface="Aptos"/>
              </a:rPr>
              <a:t>North-star metric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4818888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6ADBA"/>
                </a:solidFill>
                <a:latin typeface="Aptos"/>
              </a:rPr>
              <a:t>Verified customer feedback → approved review actions per active business per month.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446520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6ADBA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